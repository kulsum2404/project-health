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Projects</c:v>
                </c:pt>
              </c:strCache>
            </c:strRef>
          </c:tx>
          <c:dPt>
            <c:idx val="0"/>
            <c:spPr>
              <a:solidFill>
                <a:srgbClr val="22C55E"/>
              </a:solidFill>
            </c:spPr>
          </c:dPt>
          <c:dPt>
            <c:idx val="1"/>
            <c:spPr>
              <a:solidFill>
                <a:srgbClr val="F59E0B"/>
              </a:solidFill>
            </c:spPr>
          </c:dPt>
          <c:dPt>
            <c:idx val="2"/>
            <c:spPr>
              <a:solidFill>
                <a:srgbClr val="EF4444"/>
              </a:solidFill>
            </c:spPr>
          </c:dPt>
          <c:cat>
            <c:strRef>
              <c:f>Sheet1!$A$2:$A$4</c:f>
              <c:strCache>
                <c:ptCount val="3"/>
                <c:pt idx="0">
                  <c:v>Green</c:v>
                </c:pt>
                <c:pt idx="1">
                  <c:v>Amber</c:v>
                </c:pt>
                <c:pt idx="2">
                  <c:v>Red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</c:v>
                </c:pt>
                <c:pt idx="1">
                  <c:v>2</c:v>
                </c:pt>
                <c:pt idx="2">
                  <c:v>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38BDF8"/>
                </a:solidFill>
              </a:defRPr>
            </a:pPr>
            <a:r>
              <a:t>Project Portfolio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0">
                <a:solidFill>
                  <a:srgbClr val="94A3B8"/>
                </a:solidFill>
              </a:defRPr>
            </a:pPr>
            <a:r>
              <a:t>Executive Monthly Portfolio Review</a:t>
            </a:r>
          </a:p>
          <a:p>
            <a:pPr>
              <a:spcAft>
                <a:spcPts val="600"/>
              </a:spcAft>
              <a:defRPr sz="1800" b="0">
                <a:solidFill>
                  <a:srgbClr val="94A3B8"/>
                </a:solidFill>
              </a:defRPr>
            </a:pPr>
            <a:r>
              <a:t>June 09, 2026 — July 09, 2026</a:t>
            </a:r>
          </a:p>
          <a:p>
            <a:pPr>
              <a:spcAft>
                <a:spcPts val="600"/>
              </a:spcAft>
              <a:defRPr sz="1800" b="0">
                <a:solidFill>
                  <a:srgbClr val="94A3B8"/>
                </a:solidFill>
              </a:defRPr>
            </a:pPr>
          </a:p>
          <a:p>
            <a:pPr>
              <a:spcAft>
                <a:spcPts val="600"/>
              </a:spcAft>
              <a:defRPr sz="1800" b="0">
                <a:solidFill>
                  <a:srgbClr val="94A3B8"/>
                </a:solidFill>
              </a:defRPr>
            </a:pPr>
            <a:r>
              <a:t>Total Projects Analyzed: 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8FAFC"/>
                </a:solidFill>
              </a:defRPr>
            </a:pPr>
            <a:r>
              <a:t>Portfolio Health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F8FAFC"/>
                </a:solidFill>
              </a:defRPr>
            </a:pPr>
            <a:r>
              <a:t>The portfolio is currently stable at an 'amber' health status, primarily driven by excellent budget adherence across all projects. However, both projects are significantly impacted by unresolved blockers and a consistent pattern of overdue tasks and late milestones, indicating potential schedule and delivery risks.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914400" y="2743200"/>
          <a:ext cx="7315200" cy="3474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8FAFC"/>
                </a:solidFill>
              </a:defRPr>
            </a:pPr>
            <a:r>
              <a:t>Cross-Project Macro Trends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82296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36576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8FAFC"/>
                          </a:solidFill>
                        </a:defRPr>
                      </a:pPr>
                      <a:r>
                        <a:t>Trend Description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8FAFC"/>
                          </a:solidFill>
                        </a:defRPr>
                      </a:pPr>
                      <a:r>
                        <a:t>Direction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8FAFC"/>
                          </a:solidFill>
                        </a:defRPr>
                      </a:pPr>
                      <a:r>
                        <a:t>Severity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8FAFC"/>
                          </a:solidFill>
                        </a:defRPr>
                      </a:pPr>
                      <a:r>
                        <a:t>Affected Projects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Budget performance is consistently strong across the portfolio, with both projects maintaining a perfect CPI of 1.0 and zero burn rate.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STABLE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20260708 144914 Project Plan B (1), 20260708 151623 S2P Project (4)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Schedule and milestone adherence show a common pattern of slippage, with both projects reporting overdue tasks and late milestones. Project Plan B has a higher percentage (11.5%) compared to S2P Project (6.3%).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STABLE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20260708 144914 Project Plan B (1), 20260708 151623 S2P Project (4)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8FAFC"/>
                </a:solidFill>
              </a:defRPr>
            </a:pPr>
            <a:r>
              <a:t>RAG Status Shifts (Period-over-Period)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94A3B8"/>
                </a:solidFill>
              </a:defRPr>
            </a:pPr>
            <a:r>
              <a:t>No projects shifted RAG status during this period.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F4444"/>
                </a:solidFill>
              </a:defRPr>
            </a:pPr>
            <a:r>
              <a:t>Top Emerging Risks &amp; Blockers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8229600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6576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8FAFC"/>
                          </a:solidFill>
                        </a:defRPr>
                      </a:pPr>
                      <a:r>
                        <a:t>Risk Description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8FAFC"/>
                          </a:solidFill>
                        </a:defRPr>
                      </a:pPr>
                      <a:r>
                        <a:t>Urgency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8FAFC"/>
                          </a:solidFill>
                        </a:defRPr>
                      </a:pPr>
                      <a:r>
                        <a:t>Affected Projects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Both projects are severely impacted by unresolved blockers, indicated by a blocker score of 0.0. Project Plan B has 234 medium-severity unresolved blockers, while S2P Project has 1, suggesting a systemic issue with blocker resolution.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CRITICAL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20260708 144914 Project Plan B (1), 20260708 151623 S2P Project (4)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2C55E"/>
                </a:solidFill>
              </a:defRPr>
            </a:pPr>
            <a:r>
              <a:t>Notable Wins &amp; Positive Signals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8229600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36576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8FAFC"/>
                          </a:solidFill>
                        </a:defRPr>
                      </a:pPr>
                      <a:r>
                        <a:t>Win / Positive Signal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8FAFC"/>
                          </a:solidFill>
                        </a:defRPr>
                      </a:pPr>
                      <a:r>
                        <a:t>Associated Projects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Both projects demonstrate excellent financial management, operating perfectly within budget with no cost overruns or burn rate.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20260708 144914 Project Plan B (1), 20260708 151623 S2P Project (4)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8BDF8"/>
                </a:solidFill>
              </a:defRPr>
            </a:pPr>
            <a:r>
              <a:t>Strategic 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8FAFC"/>
                </a:solidFill>
              </a:defRPr>
            </a:pPr>
            <a:r>
              <a:t>• Immediately prioritize and establish a portfolio-wide initiative to address and resolve outstanding blockers, focusing on the high volume in Project Plan B.</a:t>
            </a:r>
          </a:p>
          <a:p>
            <a:pPr>
              <a:spcAft>
                <a:spcPts val="800"/>
              </a:spcAft>
              <a:defRPr sz="1800">
                <a:solidFill>
                  <a:srgbClr val="F8FAFC"/>
                </a:solidFill>
              </a:defRPr>
            </a:pPr>
            <a:r>
              <a:t>• Implement a standardized process for tracking and escalating overdue tasks and late milestones across all projects to mitigate schedule slippage.</a:t>
            </a:r>
          </a:p>
          <a:p>
            <a:pPr>
              <a:spcAft>
                <a:spcPts val="800"/>
              </a:spcAft>
              <a:defRPr sz="1800">
                <a:solidFill>
                  <a:srgbClr val="F8FAFC"/>
                </a:solidFill>
              </a:defRPr>
            </a:pPr>
            <a:r>
              <a:t>• Conduct a deep dive into the root causes of blocker accumulation and schedule delays to identify common systemic issues or resource constraints.</a:t>
            </a:r>
          </a:p>
          <a:p>
            <a:pPr>
              <a:spcAft>
                <a:spcPts val="800"/>
              </a:spcAft>
              <a:defRPr sz="1800">
                <a:solidFill>
                  <a:srgbClr val="F8FAFC"/>
                </a:solidFill>
              </a:defRPr>
            </a:pPr>
            <a:r>
              <a:t>• Review and potentially revise the blocker management framework to ensure timely resolution and prevent future accumulation.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8FAFC"/>
                </a:solidFill>
              </a:defRPr>
            </a:pPr>
            <a:r>
              <a:t>Appendix: Detailed Portfolio Metrics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82296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5657"/>
                <a:gridCol w="1175657"/>
                <a:gridCol w="1175657"/>
                <a:gridCol w="1175657"/>
                <a:gridCol w="1175657"/>
                <a:gridCol w="1175657"/>
                <a:gridCol w="1175658"/>
              </a:tblGrid>
              <a:tr h="36576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8FAFC"/>
                          </a:solidFill>
                        </a:defRPr>
                      </a:pPr>
                      <a:r>
                        <a:t>Project Name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8FAFC"/>
                          </a:solidFill>
                        </a:defRPr>
                      </a:pPr>
                      <a:r>
                        <a:t>RAG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8FAFC"/>
                          </a:solidFill>
                        </a:defRPr>
                      </a:pPr>
                      <a:r>
                        <a:t>Overall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8FAFC"/>
                          </a:solidFill>
                        </a:defRPr>
                      </a:pPr>
                      <a:r>
                        <a:t>Schedule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8FAFC"/>
                          </a:solidFill>
                        </a:defRPr>
                      </a:pPr>
                      <a:r>
                        <a:t>Budget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8FAFC"/>
                          </a:solidFill>
                        </a:defRPr>
                      </a:pPr>
                      <a:r>
                        <a:t>Blocker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8FAFC"/>
                          </a:solidFill>
                        </a:defRPr>
                      </a:pPr>
                      <a:r>
                        <a:t>Sentiment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20260708 144914 Project 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0000"/>
                          </a:solidFill>
                        </a:defRPr>
                      </a:pPr>
                      <a:r>
                        <a:t>AMBER</a:t>
                      </a:r>
                    </a:p>
                  </a:txBody>
                  <a:tcPr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20260708 151623 S2P Proje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0000"/>
                          </a:solidFill>
                        </a:defRPr>
                      </a:pPr>
                      <a:r>
                        <a:t>AMBER</a:t>
                      </a:r>
                    </a:p>
                  </a:txBody>
                  <a:tcPr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60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