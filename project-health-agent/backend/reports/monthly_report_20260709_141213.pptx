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10B981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2563EB"/>
              </a:solidFill>
            </c:spPr>
          </c:dPt>
          <c:cat>
            <c:strRef>
              <c:f>Sheet1!$A$2:$A$6</c:f>
              <c:strCache>
                <c:ptCount val="5"/>
                <c:pt idx="0">
                  <c:v>Schedule</c:v>
                </c:pt>
                <c:pt idx="1">
                  <c:v>Budget</c:v>
                </c:pt>
                <c:pt idx="2">
                  <c:v>Milestones</c:v>
                </c:pt>
                <c:pt idx="3">
                  <c:v>Blockers</c:v>
                </c:pt>
                <c:pt idx="4">
                  <c:v>Sentiment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90.9</c:v>
                </c:pt>
                <c:pt idx="1">
                  <c:v>100.0</c:v>
                </c:pt>
                <c:pt idx="2">
                  <c:v>90.9</c:v>
                </c:pt>
                <c:pt idx="3">
                  <c:v>0.0</c:v>
                </c:pt>
                <c:pt idx="4">
                  <c:v>21.45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563EB"/>
                </a:solidFill>
              </a:defRPr>
            </a:pPr>
            <a: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  <a:r>
              <a:t>Executive Monthly Portfolio Review</a:t>
            </a:r>
          </a:p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  <a:r>
              <a:t>June 09, 2026 — July 09, 2026</a:t>
            </a:r>
          </a:p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  <a:r>
              <a:t>Total Projects Analyzed: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</a:defRPr>
            </a:pPr>
            <a:r>
              <a:t>The portfolio remains in amber overall, with strong budget performance but emerging schedule and blocker concerns. While both projects maintain a CPI of 1.0, overdue tasks are present in every project and unresolved blockers are heavily concentrated in Project Plan B, contributing to a modest decline in weighted scores.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TOTAL PROJECTS</a:t>
            </a:r>
          </a:p>
          <a:p>
            <a:pPr algn="ctr">
              <a:defRPr sz="2400" b="1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860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HEALTHY</a:t>
            </a:r>
          </a:p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AT RISK</a:t>
            </a:r>
          </a:p>
          <a:p>
            <a:pPr algn="ctr">
              <a:defRPr sz="2400" b="1">
                <a:solidFill>
                  <a:srgbClr val="EF4444"/>
                </a:solidFill>
              </a:defRPr>
            </a:pPr>
            <a:r>
              <a:t>0%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347472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Average Project Scores across Portfolio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Cross-Project Macro Trends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Trend Description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Overdue tasks appear in all projects (44/383 and 33/492), averaging 8.8% of total tasks overdue.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Budget health is uniformly strong with CPI = 1.0 and 0% burn across the portfolio.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Weighted score is declining in S2P Project (‑2.7 points) while stable in Project Plan B, resulting in a net portfolio score drop of ~1.5 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DECLINING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Unresolved blocker count is highly imbalanced: 234 in Project Plan B versus 1 in S2P Project.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RAG Status Shifts (Period-over-Period)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</a:defRPr>
            </a:pPr>
            <a:r>
              <a:t>No projects shifted RAG status during this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 &amp; Blockers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 Description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High volume of medium‑severity unresolved blockers in Project Plan B could trigger schedule slippage and milestone delays.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Continued decline in weighted score for S2P Project may indicate widening performance gaps.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Zero budget burn to date suggests delayed execution, risking cash‑flow pressure later in the program.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Notable Wins &amp; Positive Signals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 / Positive Signal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Associated Projects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Both projects achieve a perfect budget score (CPI 1.0) despite no spend, reflecting excellent cost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Milestone on‑time performance exceeds 88% for each project (88.5% and 93.3%).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Assign a dedicated blocker‑resolution team to Project Plan B and track weekly reduction of unresolved items.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Review the budget spend plan to align actual expenditures with schedule milestones and avoid idle funds.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Implement a corrective action plan for S2P Project to stabilize its weighted score, focusing on risk mitigation and stakeholder engagement.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Capture sentiment data for Project Plan B (e.g., via comment fields) to enable portfolio‑wide sentiment monitoring.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Tighten task tracking and introduce short‑term schedule buffers to reduce the overdue‑task percentage across both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Appendix: Detailed Portfolio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20260708 144914 Project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20260708 151623 S2P Proje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