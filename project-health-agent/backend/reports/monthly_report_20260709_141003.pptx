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10B981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2563EB"/>
              </a:solidFill>
            </c:spPr>
          </c:dPt>
          <c:cat>
            <c:strRef>
              <c:f>Sheet1!$A$2:$A$6</c:f>
              <c:strCache>
                <c:ptCount val="5"/>
                <c:pt idx="0">
                  <c:v>Schedule</c:v>
                </c:pt>
                <c:pt idx="1">
                  <c:v>Budget</c:v>
                </c:pt>
                <c:pt idx="2">
                  <c:v>Milestones</c:v>
                </c:pt>
                <c:pt idx="3">
                  <c:v>Blockers</c:v>
                </c:pt>
                <c:pt idx="4">
                  <c:v>Sentiment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90.9</c:v>
                </c:pt>
                <c:pt idx="1">
                  <c:v>100.0</c:v>
                </c:pt>
                <c:pt idx="2">
                  <c:v>90.9</c:v>
                </c:pt>
                <c:pt idx="3">
                  <c:v>0.0</c:v>
                </c:pt>
                <c:pt idx="4">
                  <c:v>21.45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563EB"/>
                </a:solidFill>
              </a:defRPr>
            </a:pPr>
            <a:r>
              <a:t>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  <a:r>
              <a:t>Executive Monthly Portfolio Review</a:t>
            </a:r>
          </a:p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  <a:r>
              <a:t>June 09, 2026 — July 09, 2026</a:t>
            </a:r>
          </a:p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475569"/>
                </a:solidFill>
              </a:defRPr>
            </a:pPr>
            <a:r>
              <a:t>Total Projects Analyzed: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F172A"/>
                </a:solidFill>
              </a:defRPr>
            </a:pPr>
            <a:r>
              <a:t>Across the two‑project portfolio, budget performance is uniformly strong (CPI = 1.0, 0% burn), but schedule health is pressured by overdue tasks in both projects and blocker remediation is uneven, with one project carrying a large unresolved blocker backlog.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TOTAL PROJECTS</a:t>
            </a:r>
          </a:p>
          <a:p>
            <a:pPr algn="ctr">
              <a:defRPr sz="2400" b="1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860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HEALTHY</a:t>
            </a:r>
          </a:p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AT RISK</a:t>
            </a:r>
          </a:p>
          <a:p>
            <a:pPr algn="ctr">
              <a:defRPr sz="2400" b="1">
                <a:solidFill>
                  <a:srgbClr val="EF4444"/>
                </a:solidFill>
              </a:defRPr>
            </a:pPr>
            <a:r>
              <a:t>0%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347472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Average Project Scores across Portfolio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Cross-Project Macro Trends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Trend Description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Overdue tasks exceed 5% of total work in both projects (11.5% in Project Plan B, 6.7% in S2P), keeping schedule scores just above 85 but showing no improvement.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 (1), S2P Project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Budget scores remain at 100 with CPI = 1.0 and zero burn rate across the portfolio, indicating consistent cost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 (1), S2P Project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RAG Status Shifts (Period-over-Period)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475569"/>
                </a:solidFill>
              </a:defRPr>
            </a:pPr>
            <a:r>
              <a:t>No projects shifted RAG status during this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 &amp; Blockers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 Description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High volume of unresolved blockers in Project Plan B (234 of 383 items, 61% unresolved) threatens schedule and 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Neutral‑to‑negative stakeholder sentiment in S2P Project (42.9 score, 3 negative vs 4 neutral entries) may signal growing dissatisfaction.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S2P Project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Notable Wins &amp; Positive Signals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 / Positive Signal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Associated Projects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Both projects are under budget with CPI = 1.0 and no budget burn to date.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 (1), S2P Project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Schedule scores remain high (88.5 and 93.3) despite some overdue tasks.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Project Plan B (1), S2P Project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Prioritize resolution of medium‑severity blockers in Project Plan B to reduce the 61% unresolved rate.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Implement a focused overdue‑task reduction sprint across both projects to bring overdue percentages below 5%.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Capture stakeholder sentiment for Project Plan B (add comments field) to enable portfolio‑wide sentiment monitoring.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Begin tracking actual cost and burn rate to move budget signals from zero‑consumption to active monitoring.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Set up a weekly cross‑project health review to watch schedule overdue trends and blocker clearance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Appendix: Detailed Portfolio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20260708 144914 Project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20260708 151623 S2P Proje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